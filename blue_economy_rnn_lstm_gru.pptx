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B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2B3A"/>
                </a:solidFill>
                <a:latin typeface="Arial"/>
              </a:rPr>
              <a:t>RMSE (MT)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(MT)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BE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E8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RNN</c:v>
                  </c:pt>
                  <c:pt idx="1">
                    <c:v>LSTM</c:v>
                  </c:pt>
                  <c:pt idx="2">
                    <c:v>GRU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11122</c:v>
                </c:pt>
                <c:pt idx="1">
                  <c:v>11168</c:v>
                </c:pt>
                <c:pt idx="2">
                  <c:v>10189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2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D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D2B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B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2B3A"/>
                </a:solidFill>
                <a:latin typeface="Arial"/>
              </a:rPr>
              <a:t>MAE (MT)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(MT)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BE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E8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RNN</c:v>
                  </c:pt>
                  <c:pt idx="1">
                    <c:v>LSTM</c:v>
                  </c:pt>
                  <c:pt idx="2">
                    <c:v>GRU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8443</c:v>
                </c:pt>
                <c:pt idx="1">
                  <c:v>8802</c:v>
                </c:pt>
                <c:pt idx="2">
                  <c:v>7764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2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D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D2B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B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2B3A"/>
                </a:solidFill>
                <a:latin typeface="Arial"/>
              </a:rPr>
              <a:t>R²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BE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E8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RNN</c:v>
                  </c:pt>
                  <c:pt idx="1">
                    <c:v>LSTM</c:v>
                  </c:pt>
                  <c:pt idx="2">
                    <c:v>GRU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0.414</c:v>
                </c:pt>
                <c:pt idx="1">
                  <c:v>0.41</c:v>
                </c:pt>
                <c:pt idx="2">
                  <c:v>0.509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D2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D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12700" cap="flat">
              <a:solidFill>
                <a:srgbClr val="E8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D2B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the Blue Economy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vs LSTM vs GRU — Forecasting Monthly Tropical Tuna Catch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3794760"/>
            <a:ext cx="12801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IOTC WPTT28  •  Yellowfin, Bigeye &amp; Skipjack Tuna  •  Indian Ocean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Forecasting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E8F1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total catch and per-species catch series built from IOTC catch/effort records — covering Yellowfin, Bigeye, and Skipjack tuna in the Indian Ocean.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forecast total monthly catch (metric tons).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41732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488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12-month lookback window → predict next month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Chronological 70% / 15% / 15% train/val/test split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Scaling fit only on training data (no leakage)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483 train / 106 val / 107 test sequences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Architectures, Same Setup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layer size (32 units), dropout, dense head, and training regime — isolating the architecture effect.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SimpleRNN(32) → Dropout(0.2) → Dense(16) → Dense(1)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3337560"/>
            <a:ext cx="306324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474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recurrent unit — a single hidden state passed forward.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8F1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828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4688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LSTM(32) → Dropout(0.2) → Dense(16) → Dense(1)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3337560"/>
            <a:ext cx="306324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3474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input/forget/output gates and a cell state for longer memory.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1828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24688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GRU(32) → Dropout(0.2) → Dense(16) → Dense(1)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3063240" cy="18288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3474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gates into update/reset — leaner, often just as effective.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508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MSE loss, MAE tracked as a secondary metric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stopping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468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validation loss, patience = 15 epochs, best weights restored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4290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epochs, batch size 16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389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389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held-out test set for all three, scored on original MT scale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 for RMSE / MAE / MAPE; higher is better for R².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3566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97680" y="1371600"/>
          <a:ext cx="3566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138160" y="1371600"/>
          <a:ext cx="3566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425196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D9A441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822960" y="4251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 wins on every metric: RMSE 10,189 MT · MAE 7,764 MT · MAPE 12.81% · R² 0.509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overall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8745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#1 on RMSE, MAE, MAPE, and R² — a clean sweep across every metric.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likely won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9260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gates than LSTM reduce overfitting risk on a modest ~700-point series, while still capturing seasonal patterns better than plain RNN.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977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takeaway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9776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catch-forecasting task, GRU offers the best accuracy without LSTM's extra parameter cost.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2026-09-23T10:54:15Z</dcterms:created>
  <dcterms:modified xsi:type="dcterms:W3CDTF">2026-09-23T10:54:15Z</dcterms:modified>
</cp:coreProperties>
</file>